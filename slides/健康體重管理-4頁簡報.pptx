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258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為什麼要管理體重？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2331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66705F"/>
                </a:solidFill>
                <a:latin typeface="jf open 粉圓 2.1"/>
                <a:ea typeface="jf open 粉圓 2.1"/>
                <a:cs typeface="jf open 粉圓 2.1"/>
              </a:rPr>
              <a:t>肥胖是一種慢性病，不是意志力問題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32004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1">
                <a:solidFill>
                  <a:srgbClr val="0A8A4D"/>
                </a:solidFill>
                <a:latin typeface="jf open 粉圓 2.1"/>
                <a:ea typeface="jf open 粉圓 2.1"/>
                <a:cs typeface="jf open 粉圓 2.1"/>
              </a:rPr>
              <a:t>●  </a:t>
            </a:r>
            <a:r>
              <a:rPr sz="20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減 5–10%，健康就有感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C2620A"/>
                </a:solidFill>
                <a:latin typeface="jf open 粉圓 2.1"/>
                <a:ea typeface="jf open 粉圓 2.1"/>
                <a:cs typeface="jf open 粉圓 2.1"/>
              </a:rPr>
              <a:t>●  </a:t>
            </a:r>
            <a:r>
              <a:rPr sz="20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血糖、血壓、脂肪肝改善</a:t>
            </a:r>
          </a:p>
          <a:p>
            <a:pPr algn="l">
              <a:lnSpc>
                <a:spcPct val="160000"/>
              </a:lnSpc>
            </a:pPr>
            <a:r>
              <a:rPr sz="2000" b="1">
                <a:solidFill>
                  <a:srgbClr val="3563C9"/>
                </a:solidFill>
                <a:latin typeface="jf open 粉圓 2.1"/>
                <a:ea typeface="jf open 粉圓 2.1"/>
                <a:cs typeface="jf open 粉圓 2.1"/>
              </a:rPr>
              <a:t>●  </a:t>
            </a:r>
            <a:r>
              <a:rPr sz="20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膝蓋輕鬆、睡得更好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9260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30 秒自我評估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BMI＝體重(kg) ÷ 身高(m)²　→　</a:t>
            </a:r>
            <a:r>
              <a:rPr sz="1600" b="1">
                <a:solidFill>
                  <a:srgbClr val="C2620A"/>
                </a:solidFill>
                <a:latin typeface="jf open 粉圓 2.1"/>
                <a:ea typeface="jf open 粉圓 2.1"/>
                <a:cs typeface="jf open 粉圓 2.1"/>
              </a:rPr>
              <a:t>24 過重・27 肥胖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腰圍標準：</a:t>
            </a:r>
            <a:r>
              <a:rPr sz="1600" b="1">
                <a:solidFill>
                  <a:srgbClr val="3563C9"/>
                </a:solidFill>
                <a:latin typeface="jf open 粉圓 2.1"/>
                <a:ea typeface="jf open 粉圓 2.1"/>
                <a:cs typeface="jf open 粉圓 2.1"/>
              </a:rPr>
              <a:t>男 90 公分・女 80 公分</a:t>
            </a:r>
            <a:r>
              <a:rPr sz="1600" b="0">
                <a:solidFill>
                  <a:srgbClr val="66705F"/>
                </a:solidFill>
                <a:latin typeface="jf open 粉圓 2.1"/>
                <a:ea typeface="jf open 粉圓 2.1"/>
                <a:cs typeface="jf open 粉圓 2.1"/>
              </a:rPr>
              <a:t>（超過＝內臟脂肪過多）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A8A4D"/>
                </a:solidFill>
                <a:latin typeface="jf open 粉圓 2.1"/>
                <a:ea typeface="jf open 粉圓 2.1"/>
                <a:cs typeface="jf open 粉圓 2.1"/>
              </a:rPr>
              <a:t>綠燈｜維持現況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BMI 18.5–24
腰圍未超標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971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07E0A"/>
                </a:solidFill>
                <a:latin typeface="jf open 粉圓 2.1"/>
                <a:ea typeface="jf open 粉圓 2.1"/>
                <a:cs typeface="jf open 粉圓 2.1"/>
              </a:rPr>
              <a:t>黃燈｜開始調整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BMI 24–27
或腰圍超標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2971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82D1B"/>
                </a:solidFill>
                <a:latin typeface="jf open 粉圓 2.1"/>
                <a:ea typeface="jf open 粉圓 2.1"/>
                <a:cs typeface="jf open 粉圓 2.1"/>
              </a:rPr>
              <a:t>紅燈｜就醫評估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BMI 27 以上，或 24 以上
加上血壓血糖異常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→ 保持目前生活型態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→ 從吃對＋動起來開始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5257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→ 建議減重門診完整評估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正確的減重模式：三腳凳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07008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6705F"/>
                </a:solidFill>
                <a:latin typeface="jf open 粉圓 2.1"/>
                <a:ea typeface="jf open 粉圓 2.1"/>
                <a:cs typeface="jf open 粉圓 2.1"/>
              </a:rPr>
              <a:t>缺一隻腳，另外兩隻就要加倍出力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40416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C2620A"/>
                </a:solidFill>
                <a:latin typeface="jf open 粉圓 2.1"/>
                <a:ea typeface="jf open 粉圓 2.1"/>
                <a:cs typeface="jf open 粉圓 2.1"/>
              </a:rPr>
              <a:t>飲食｜主引擎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8616" y="4937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A8A4D"/>
                </a:solidFill>
                <a:latin typeface="jf open 粉圓 2.1"/>
                <a:ea typeface="jf open 粉圓 2.1"/>
                <a:cs typeface="jf open 粉圓 2.1"/>
              </a:rPr>
              <a:t>運動｜守護肌肉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40965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3563C9"/>
                </a:solidFill>
                <a:latin typeface="jf open 粉圓 2.1"/>
                <a:ea typeface="jf open 粉圓 2.1"/>
                <a:cs typeface="jf open 粉圓 2.1"/>
              </a:rPr>
              <a:t>藥物｜醫師評估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現在就開始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325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6705F"/>
                </a:solidFill>
                <a:latin typeface="jf open 粉圓 2.1"/>
                <a:ea typeface="jf open 粉圓 2.1"/>
                <a:cs typeface="jf open 粉圓 2.1"/>
              </a:rPr>
              <a:t>就醫不是最後手段，是最有效率的起點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3492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① 記下今天的體重與腰圍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50292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② 吃對＋動起來，不是挨餓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41605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1281F"/>
                </a:solidFill>
                <a:latin typeface="jf open 粉圓 2.1"/>
                <a:ea typeface="jf open 粉圓 2.1"/>
                <a:cs typeface="jf open 粉圓 2.1"/>
              </a:rPr>
              <a:t>③ 紅燈族群 → 減重門診評估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